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aret" panose="020B0604020202020204" charset="0"/>
      <p:regular r:id="rId19"/>
    </p:embeddedFont>
    <p:embeddedFont>
      <p:font typeface="HK Grotesk" panose="020B0604020202020204" charset="0"/>
      <p:regular r:id="rId20"/>
    </p:embeddedFont>
    <p:embeddedFont>
      <p:font typeface="HK Grotesk Bold" panose="020B0604020202020204" charset="0"/>
      <p:regular r:id="rId21"/>
    </p:embeddedFont>
    <p:embeddedFont>
      <p:font typeface="HK Grotesk Semi-Bold" panose="020B0604020202020204" charset="0"/>
      <p:regular r:id="rId22"/>
    </p:embeddedFont>
    <p:embeddedFont>
      <p:font typeface="Noto Serif Display ExtraCondensed Light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72143" autoAdjust="0"/>
  </p:normalViewPr>
  <p:slideViewPr>
    <p:cSldViewPr>
      <p:cViewPr varScale="1">
        <p:scale>
          <a:sx n="55" d="100"/>
          <a:sy n="55" d="100"/>
        </p:scale>
        <p:origin x="110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Good afternoon and good evening everyone.</a:t>
            </a:r>
          </a:p>
          <a:p>
            <a:r>
              <a:rPr lang="en-US" dirty="0"/>
              <a:t>My name is Yohannes Tamiru, co-founder of WaterScope Manufacturing.</a:t>
            </a:r>
          </a:p>
          <a:p>
            <a:endParaRPr lang="en-US" dirty="0"/>
          </a:p>
          <a:p>
            <a:r>
              <a:rPr lang="en-US" dirty="0"/>
              <a:t>Today I will share how young Ethiopian engineers are working to transform water quality surveillance — not only by introducing a technology, but by building local diagnostic capacity across Africa.</a:t>
            </a:r>
          </a:p>
          <a:p>
            <a:endParaRPr lang="en-US" dirty="0"/>
          </a:p>
          <a:p>
            <a:r>
              <a:rPr lang="en-US" dirty="0"/>
              <a:t>Our mission is simple: make safe water testing accessible, reliable, and locally driven.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 access is often discussed in terms of infrastructure — but surveillance is equally critical.</a:t>
            </a:r>
          </a:p>
          <a:p>
            <a:r>
              <a:rPr lang="en-US" dirty="0"/>
              <a:t>Globally, 2.2 billion people lack access to safely managed drinking water.</a:t>
            </a:r>
          </a:p>
          <a:p>
            <a:r>
              <a:rPr lang="en-US" dirty="0"/>
              <a:t>In Ethiopia, 60 to 80 percent of communicable diseases are linked to poor water, sanitation, and hygiene conditions.</a:t>
            </a:r>
          </a:p>
          <a:p>
            <a:r>
              <a:rPr lang="en-US" dirty="0"/>
              <a:t>Diarrhea alone causes approximately 25,000 under-five deaths annually.</a:t>
            </a:r>
          </a:p>
          <a:p>
            <a:r>
              <a:rPr lang="en-US" dirty="0"/>
              <a:t>The challenge is not only water access — it is the lack of reliable, scalable monitoring systems.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6706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 question becomes: why is water quality monitoring still so limited?</a:t>
            </a:r>
          </a:p>
          <a:p>
            <a:endParaRPr lang="en-US" dirty="0"/>
          </a:p>
          <a:p>
            <a:r>
              <a:rPr lang="en-US" dirty="0"/>
              <a:t>The current monitoring ecosystem faces structural barriers.</a:t>
            </a:r>
          </a:p>
          <a:p>
            <a:r>
              <a:rPr lang="en-US" dirty="0"/>
              <a:t>Most systems are expensive and imported.</a:t>
            </a:r>
            <a:br>
              <a:rPr lang="en-US" dirty="0"/>
            </a:br>
            <a:r>
              <a:rPr lang="en-US" dirty="0"/>
              <a:t>They rely on fragile supply chains.</a:t>
            </a:r>
          </a:p>
          <a:p>
            <a:r>
              <a:rPr lang="en-US" dirty="0"/>
              <a:t>Many require technical expertise that is difficult to sustain in rural areas.</a:t>
            </a:r>
          </a:p>
          <a:p>
            <a:r>
              <a:rPr lang="en-US" dirty="0"/>
              <a:t>They are often not digitally connected — meaning data remains isolated.</a:t>
            </a:r>
          </a:p>
          <a:p>
            <a:r>
              <a:rPr lang="en-US" dirty="0"/>
              <a:t>And scaling them across thousands of rural water points becomes nearly impossible.</a:t>
            </a:r>
          </a:p>
          <a:p>
            <a:r>
              <a:rPr lang="en-US" dirty="0"/>
              <a:t>This is not a technology failure.</a:t>
            </a:r>
            <a:br>
              <a:rPr lang="en-US" dirty="0"/>
            </a:br>
            <a:r>
              <a:rPr lang="en-US" dirty="0"/>
              <a:t>It is a systems design problem.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8639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where WaterScope becomes relevant.</a:t>
            </a:r>
          </a:p>
          <a:p>
            <a:endParaRPr lang="en-US" dirty="0"/>
          </a:p>
          <a:p>
            <a:r>
              <a:rPr lang="en-US" dirty="0"/>
              <a:t>WaterScope is an open-source, field-adapted membrane filtration system originally developed by engineers at the University of Cambridge.</a:t>
            </a:r>
          </a:p>
          <a:p>
            <a:r>
              <a:rPr lang="en-US" dirty="0"/>
              <a:t>It simplifies bacterial testing in drinking water through a cartridge-based method, combined with automated colony detection using machine learning.</a:t>
            </a:r>
          </a:p>
          <a:p>
            <a:r>
              <a:rPr lang="en-US" dirty="0"/>
              <a:t>Instead of requiring a full laboratory, the system is compact, portable, and deployable in the field — as shown here by the Nile River in Bahir Dar.</a:t>
            </a:r>
          </a:p>
          <a:p>
            <a:r>
              <a:rPr lang="en-US" dirty="0"/>
              <a:t>It bridges laboratory-level accuracy with field accessibility.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0007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 what makes it truly transformative are its features.</a:t>
            </a:r>
          </a:p>
          <a:p>
            <a:endParaRPr lang="en-US" dirty="0"/>
          </a:p>
          <a:p>
            <a:r>
              <a:rPr lang="en-US" dirty="0"/>
              <a:t>The system is rapid — providing early indication in as little as 8 hours and full quantitative results in 21 hours.</a:t>
            </a:r>
          </a:p>
          <a:p>
            <a:r>
              <a:rPr lang="en-US" dirty="0"/>
              <a:t>It is portable and simple — designed for low-resource environments.</a:t>
            </a:r>
          </a:p>
          <a:p>
            <a:r>
              <a:rPr lang="en-US" dirty="0"/>
              <a:t>It is reliable and robust — benchmarked against ISO 9308 standards and externally validated.</a:t>
            </a:r>
          </a:p>
          <a:p>
            <a:r>
              <a:rPr lang="en-US" dirty="0"/>
              <a:t>It is digital and smart — using embedded microscopy and machine learning to automate colony counting.</a:t>
            </a:r>
          </a:p>
          <a:p>
            <a:r>
              <a:rPr lang="en-US" dirty="0"/>
              <a:t>It is affordable — reducing financial barriers.</a:t>
            </a:r>
          </a:p>
          <a:p>
            <a:r>
              <a:rPr lang="en-US" dirty="0"/>
              <a:t>And most importantly, it is data-driven — enabling real-time monitoring and centralized reporting by using its mobile app and dashboard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0031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technology alone is not enough.</a:t>
            </a:r>
          </a:p>
          <a:p>
            <a:endParaRPr lang="en-US" dirty="0"/>
          </a:p>
          <a:p>
            <a:r>
              <a:rPr lang="en-US" dirty="0"/>
              <a:t>We are a team of young Ethiopian engineers and entrepreneurs.</a:t>
            </a:r>
          </a:p>
          <a:p>
            <a:r>
              <a:rPr lang="en-US" dirty="0"/>
              <a:t>Our work is focused not only on deploying devices, but on building local technical capacity.</a:t>
            </a:r>
          </a:p>
          <a:p>
            <a:r>
              <a:rPr lang="en-US" dirty="0"/>
              <a:t>We collaborate with communities, government stakeholders, and universities — including Bahir Dar University.</a:t>
            </a:r>
          </a:p>
          <a:p>
            <a:r>
              <a:rPr lang="en-US" dirty="0"/>
              <a:t>Our goal is to ensure that diagnostic capacity is built locally, sustained locally, and scaled locally.</a:t>
            </a:r>
          </a:p>
          <a:p>
            <a:r>
              <a:rPr lang="en-US" dirty="0"/>
              <a:t>African-led innovation is central to our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852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leads to what makes our approach different.</a:t>
            </a:r>
          </a:p>
          <a:p>
            <a:endParaRPr lang="en-US" dirty="0"/>
          </a:p>
          <a:p>
            <a:r>
              <a:rPr lang="en-US" dirty="0"/>
              <a:t>What differentiates us is not only the device — but the systems innovation model.</a:t>
            </a:r>
          </a:p>
          <a:p>
            <a:r>
              <a:rPr lang="en-US" dirty="0"/>
              <a:t>Through local manufacturing, we reduce costs by up to 80 percent.</a:t>
            </a:r>
          </a:p>
          <a:p>
            <a:r>
              <a:rPr lang="en-US" dirty="0"/>
              <a:t>We build technical and research capacity within the country.</a:t>
            </a:r>
          </a:p>
          <a:p>
            <a:r>
              <a:rPr lang="en-US" dirty="0"/>
              <a:t>We strengthen self-reliance by reducing dependency on imported diagnostics.</a:t>
            </a:r>
          </a:p>
          <a:p>
            <a:r>
              <a:rPr lang="en-US" dirty="0"/>
              <a:t>And we create local jobs in manufacturing and technical services.</a:t>
            </a:r>
          </a:p>
          <a:p>
            <a:r>
              <a:rPr lang="en-US" dirty="0"/>
              <a:t>This shifts water testing from external dependency to regional resilience.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9252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we are already seeing traction.</a:t>
            </a:r>
          </a:p>
          <a:p>
            <a:endParaRPr lang="en-US" dirty="0"/>
          </a:p>
          <a:p>
            <a:r>
              <a:rPr lang="en-US" dirty="0"/>
              <a:t>We have received a formal Letter of Intent from Action Against Hunger for up to 30 units under consideration.</a:t>
            </a:r>
          </a:p>
          <a:p>
            <a:r>
              <a:rPr lang="en-US" dirty="0"/>
              <a:t>The system has been piloted in Ethiopia and Kenya, demonstrating field usability in East African contexts.</a:t>
            </a:r>
          </a:p>
          <a:p>
            <a:r>
              <a:rPr lang="en-US" dirty="0"/>
              <a:t>We are actively engaging the Ministry of Health through technician training programs, building government capacity.</a:t>
            </a:r>
          </a:p>
          <a:p>
            <a:r>
              <a:rPr lang="en-US" dirty="0"/>
              <a:t>These early institutional validations demonstrate confidence in both the technology and the model.</a:t>
            </a:r>
          </a:p>
          <a:p>
            <a:endParaRPr lang="en-US" dirty="0"/>
          </a:p>
          <a:p>
            <a:r>
              <a:rPr lang="en-US" dirty="0"/>
              <a:t>But our vision extends beyond Ethiopia.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9835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begun local manufacturing using 3D printing and machining technologies.</a:t>
            </a:r>
          </a:p>
          <a:p>
            <a:r>
              <a:rPr lang="en-US" dirty="0"/>
              <a:t>We conduct training programs for water technicians.</a:t>
            </a:r>
          </a:p>
          <a:p>
            <a:r>
              <a:rPr lang="en-US" dirty="0"/>
              <a:t>And we are building partnerships across sectors.</a:t>
            </a:r>
          </a:p>
          <a:p>
            <a:endParaRPr lang="en-US" dirty="0"/>
          </a:p>
          <a:p>
            <a:r>
              <a:rPr lang="en-US" dirty="0"/>
              <a:t>This is the beginning of a localized diagnostic ecosystem.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2834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now, we invite collaboration.</a:t>
            </a:r>
          </a:p>
          <a:p>
            <a:endParaRPr lang="en-US" dirty="0"/>
          </a:p>
          <a:p>
            <a:r>
              <a:rPr lang="en-US" dirty="0"/>
              <a:t>We are open to collaboration in research, scale, and deployment.</a:t>
            </a:r>
          </a:p>
          <a:p>
            <a:r>
              <a:rPr lang="en-US" dirty="0"/>
              <a:t>This platform enables work in environmental microbiology, antimicrobial resistance surveillance, AI-driven pathogen detection, and implementation science.</a:t>
            </a:r>
          </a:p>
          <a:p>
            <a:r>
              <a:rPr lang="en-US" dirty="0"/>
              <a:t>We invite Canada–Africa academic collaboration — joint grants, co-supervision of students, pilot programs, and regional deployment strategies.</a:t>
            </a:r>
          </a:p>
          <a:p>
            <a:endParaRPr lang="en-US" dirty="0"/>
          </a:p>
          <a:p>
            <a:r>
              <a:rPr lang="en-US" dirty="0"/>
              <a:t>Water surveillance should be equitable, collaborative, and locally empowered.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6142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we are grateful for the partners who support this journey.</a:t>
            </a:r>
          </a:p>
          <a:p>
            <a:endParaRPr lang="en-US" dirty="0"/>
          </a:p>
          <a:p>
            <a:r>
              <a:rPr lang="en-US" dirty="0"/>
              <a:t>We work closely with Bahir Dar University, Centre for Global Equality, </a:t>
            </a:r>
            <a:r>
              <a:rPr lang="en-US" dirty="0" err="1"/>
              <a:t>BiT</a:t>
            </a:r>
            <a:r>
              <a:rPr lang="en-US" dirty="0"/>
              <a:t> Maker Space, and the founders WaterScope.</a:t>
            </a:r>
          </a:p>
          <a:p>
            <a:r>
              <a:rPr lang="en-US" dirty="0"/>
              <a:t>These partnerships strengthen both technical rigor and implementation capacity.</a:t>
            </a:r>
          </a:p>
          <a:p>
            <a:r>
              <a:rPr lang="en-US" dirty="0"/>
              <a:t>Collaboration is at the heart of our progress.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344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close with this thought.</a:t>
            </a:r>
          </a:p>
          <a:p>
            <a:endParaRPr lang="en-US" dirty="0"/>
          </a:p>
          <a:p>
            <a:r>
              <a:rPr lang="en-US" dirty="0"/>
              <a:t>Water quality surveillance should not depend solely on imported laboratories.</a:t>
            </a:r>
          </a:p>
          <a:p>
            <a:r>
              <a:rPr lang="en-US" dirty="0"/>
              <a:t>Young African engineers can build scalable, validated, research-driven solutions.</a:t>
            </a:r>
          </a:p>
          <a:p>
            <a:r>
              <a:rPr lang="en-US" dirty="0"/>
              <a:t>Through equitable academic collaboration, we can transform water safety monitoring across Africa.</a:t>
            </a:r>
          </a:p>
          <a:p>
            <a:r>
              <a:rPr lang="en-US" dirty="0"/>
              <a:t>Thank you — and I welcome your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1406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0625994" y="1144577"/>
            <a:ext cx="7662006" cy="7662006"/>
          </a:xfrm>
          <a:custGeom>
            <a:avLst/>
            <a:gdLst/>
            <a:ahLst/>
            <a:cxnLst/>
            <a:rect l="l" t="t" r="r" b="b"/>
            <a:pathLst>
              <a:path w="7662006" h="7662006">
                <a:moveTo>
                  <a:pt x="0" y="0"/>
                </a:moveTo>
                <a:lnTo>
                  <a:pt x="7662006" y="0"/>
                </a:lnTo>
                <a:lnTo>
                  <a:pt x="7662006" y="7662006"/>
                </a:lnTo>
                <a:lnTo>
                  <a:pt x="0" y="7662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6750" y="1638300"/>
            <a:ext cx="688657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3899" b="1" u="none">
                <a:solidFill>
                  <a:srgbClr val="F5FFF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WaterScope Africa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7919181"/>
            <a:ext cx="8884663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5FFFA"/>
                </a:solidFill>
                <a:latin typeface="HK Grotesk"/>
                <a:ea typeface="HK Grotesk"/>
                <a:cs typeface="HK Grotesk"/>
                <a:sym typeface="HK Grotesk"/>
              </a:rPr>
              <a:t>Presented by Yohannes Tamiru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3698910"/>
            <a:ext cx="9680776" cy="274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25"/>
              </a:lnSpc>
            </a:pPr>
            <a:r>
              <a:rPr lang="en-US" sz="10525" spc="-210">
                <a:solidFill>
                  <a:srgbClr val="F5FFFA"/>
                </a:solidFill>
                <a:latin typeface="Garet"/>
                <a:ea typeface="Garet"/>
                <a:cs typeface="Garet"/>
                <a:sym typeface="Garet"/>
              </a:rPr>
              <a:t>Transforming Water Quality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4503" y="9409110"/>
            <a:ext cx="14363794" cy="455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99"/>
              </a:lnSpc>
            </a:pPr>
            <a:r>
              <a:rPr lang="en-US" sz="2899" b="1">
                <a:solidFill>
                  <a:srgbClr val="F5FFF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Canada-Africa Academic Collabor</a:t>
            </a:r>
            <a:r>
              <a:rPr lang="en-US" sz="2899" b="1" u="none">
                <a:solidFill>
                  <a:srgbClr val="F5FFFA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ations Conference (CAACC),  February 26-27, 2026.</a:t>
            </a:r>
          </a:p>
          <a:p>
            <a:pPr marL="0" lvl="0" indent="0" algn="l">
              <a:lnSpc>
                <a:spcPts val="800"/>
              </a:lnSpc>
            </a:pPr>
            <a:endParaRPr lang="en-US" sz="2899" b="1" u="none">
              <a:solidFill>
                <a:srgbClr val="F5FFFA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4332769"/>
            <a:ext cx="9763125" cy="1618405"/>
            <a:chOff x="0" y="0"/>
            <a:chExt cx="13017500" cy="2157874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Poor WASH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2674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 u="none" strike="noStrike">
                  <a:solidFill>
                    <a:srgbClr val="01392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60–80% of communicable diseases</a:t>
              </a: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 Ethiopia are linked to inadequate water, sanitation, and hygiene conditions.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5" y="6739799"/>
            <a:ext cx="9763125" cy="1618828"/>
            <a:chOff x="0" y="0"/>
            <a:chExt cx="13017500" cy="2158437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Child Mortality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237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Diarrhea is responsible for </a:t>
              </a:r>
              <a:r>
                <a:rPr lang="en-US" sz="2400" b="1" u="none" strike="noStrike">
                  <a:solidFill>
                    <a:srgbClr val="01392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approximately 25,000 under-five deaths</a:t>
              </a: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annually, making it the third leading cause of child mortality.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486148"/>
            <a:ext cx="6214501" cy="348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00"/>
              </a:lnSpc>
            </a:pPr>
            <a:r>
              <a:rPr lang="en-US" sz="9000" spc="-180">
                <a:solidFill>
                  <a:srgbClr val="013927"/>
                </a:solidFill>
                <a:latin typeface="Garet"/>
                <a:ea typeface="Garet"/>
                <a:cs typeface="Garet"/>
                <a:sym typeface="Garet"/>
              </a:rPr>
              <a:t>The Public Health Challenge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858125" y="1762436"/>
            <a:ext cx="8629650" cy="1781709"/>
            <a:chOff x="0" y="0"/>
            <a:chExt cx="11506200" cy="237561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0"/>
              <a:ext cx="115062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People lacking safe drinking water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27812"/>
              <a:ext cx="115062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Globally, </a:t>
              </a:r>
              <a:r>
                <a:rPr lang="en-US" sz="2400" b="1" u="none" strike="noStrike">
                  <a:solidFill>
                    <a:srgbClr val="01392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2.2 billion individuals</a:t>
              </a: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do not have access to safe drinking water, contributing to widespread health issues and emphasizing the urgent need for sustainable water solutions.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2571750" cy="2228850"/>
            <a:chOff x="0" y="0"/>
            <a:chExt cx="398431" cy="3453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431" cy="345307"/>
            </a:xfrm>
            <a:custGeom>
              <a:avLst/>
              <a:gdLst/>
              <a:ahLst/>
              <a:cxnLst/>
              <a:rect l="l" t="t" r="r" b="b"/>
              <a:pathLst>
                <a:path w="398431" h="345307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3"/>
              <a:stretch>
                <a:fillRect t="-7692" b="-769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543300" y="4248150"/>
            <a:ext cx="2571750" cy="2228850"/>
            <a:chOff x="0" y="0"/>
            <a:chExt cx="398431" cy="3453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8431" cy="345307"/>
            </a:xfrm>
            <a:custGeom>
              <a:avLst/>
              <a:gdLst/>
              <a:ahLst/>
              <a:cxnLst/>
              <a:rect l="l" t="t" r="r" b="b"/>
              <a:pathLst>
                <a:path w="398431" h="345307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4"/>
              <a:stretch>
                <a:fillRect l="-241" r="-24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419850" y="4248150"/>
            <a:ext cx="2571750" cy="2228850"/>
            <a:chOff x="0" y="0"/>
            <a:chExt cx="398431" cy="3453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8431" cy="345307"/>
            </a:xfrm>
            <a:custGeom>
              <a:avLst/>
              <a:gdLst/>
              <a:ahLst/>
              <a:cxnLst/>
              <a:rect l="l" t="t" r="r" b="b"/>
              <a:pathLst>
                <a:path w="398431" h="345307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5"/>
              <a:stretch>
                <a:fillRect t="-7692" b="-769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2571750" cy="2228850"/>
            <a:chOff x="0" y="0"/>
            <a:chExt cx="398431" cy="3453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8431" cy="345307"/>
            </a:xfrm>
            <a:custGeom>
              <a:avLst/>
              <a:gdLst/>
              <a:ahLst/>
              <a:cxnLst/>
              <a:rect l="l" t="t" r="r" b="b"/>
              <a:pathLst>
                <a:path w="398431" h="345307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6"/>
              <a:stretch>
                <a:fillRect l="-241" r="-24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172950" y="4248150"/>
            <a:ext cx="2571750" cy="2228850"/>
            <a:chOff x="0" y="0"/>
            <a:chExt cx="398431" cy="3453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8431" cy="345307"/>
            </a:xfrm>
            <a:custGeom>
              <a:avLst/>
              <a:gdLst/>
              <a:ahLst/>
              <a:cxnLst/>
              <a:rect l="l" t="t" r="r" b="b"/>
              <a:pathLst>
                <a:path w="398431" h="345307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7"/>
              <a:stretch>
                <a:fillRect l="-241" r="-24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049500" y="4248150"/>
            <a:ext cx="2571750" cy="2228850"/>
            <a:chOff x="0" y="0"/>
            <a:chExt cx="398431" cy="3453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8431" cy="345307"/>
            </a:xfrm>
            <a:custGeom>
              <a:avLst/>
              <a:gdLst/>
              <a:ahLst/>
              <a:cxnLst/>
              <a:rect l="l" t="t" r="r" b="b"/>
              <a:pathLst>
                <a:path w="398431" h="345307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8"/>
              <a:stretch>
                <a:fillRect l="-241" r="-241"/>
              </a:stretch>
            </a:blipFill>
          </p:spPr>
        </p:sp>
      </p:grpSp>
      <p:sp>
        <p:nvSpPr>
          <p:cNvPr id="14" name="AutoShape 14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667345" y="1175385"/>
            <a:ext cx="16953905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013927"/>
                </a:solidFill>
                <a:latin typeface="Garet"/>
                <a:ea typeface="Garet"/>
                <a:cs typeface="Garet"/>
                <a:sym typeface="Garet"/>
              </a:rPr>
              <a:t>Key Challenges in Water Quality Monitoring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66750" y="6934994"/>
            <a:ext cx="2571750" cy="1789906"/>
            <a:chOff x="0" y="0"/>
            <a:chExt cx="3429000" cy="2386542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243542"/>
              <a:ext cx="3429000" cy="114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9"/>
                </a:lnSpc>
              </a:pPr>
              <a:r>
                <a:rPr lang="en-US" sz="1916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 costs limit widespread adoption of testing kits.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4290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19"/>
                </a:lnSpc>
              </a:pPr>
              <a:r>
                <a:rPr lang="en-US" sz="3016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Expensive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43300" y="6934994"/>
            <a:ext cx="2571750" cy="1789906"/>
            <a:chOff x="0" y="0"/>
            <a:chExt cx="3429000" cy="2386542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243542"/>
              <a:ext cx="3429000" cy="114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9"/>
                </a:lnSpc>
              </a:pPr>
              <a:r>
                <a:rPr lang="en-US" sz="1916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Reliance on foreign products hinders local solutions.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34290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19"/>
                </a:lnSpc>
                <a:spcBef>
                  <a:spcPct val="0"/>
                </a:spcBef>
              </a:pPr>
              <a:r>
                <a:rPr lang="en-US" sz="3016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Imported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19850" y="6916147"/>
            <a:ext cx="2571750" cy="2002094"/>
            <a:chOff x="0" y="0"/>
            <a:chExt cx="3429000" cy="2669458"/>
          </a:xfrm>
        </p:grpSpPr>
        <p:sp>
          <p:nvSpPr>
            <p:cNvPr id="24" name="TextBox 24"/>
            <p:cNvSpPr txBox="1"/>
            <p:nvPr/>
          </p:nvSpPr>
          <p:spPr>
            <a:xfrm>
              <a:off x="0" y="1526458"/>
              <a:ext cx="3429000" cy="114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9"/>
                </a:lnSpc>
                <a:spcBef>
                  <a:spcPct val="0"/>
                </a:spcBef>
              </a:pPr>
              <a:r>
                <a:rPr lang="en-US" sz="1916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Many systems require specialized training to operate.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3429000" cy="1219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19"/>
                </a:lnSpc>
                <a:spcBef>
                  <a:spcPct val="0"/>
                </a:spcBef>
              </a:pPr>
              <a:r>
                <a:rPr lang="en-US" sz="3016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Technically Complex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96400" y="6934200"/>
            <a:ext cx="2571750" cy="2040582"/>
            <a:chOff x="0" y="0"/>
            <a:chExt cx="3429000" cy="2720775"/>
          </a:xfrm>
        </p:grpSpPr>
        <p:sp>
          <p:nvSpPr>
            <p:cNvPr id="27" name="TextBox 27"/>
            <p:cNvSpPr txBox="1"/>
            <p:nvPr/>
          </p:nvSpPr>
          <p:spPr>
            <a:xfrm>
              <a:off x="0" y="1577775"/>
              <a:ext cx="3429000" cy="114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9"/>
                </a:lnSpc>
                <a:spcBef>
                  <a:spcPct val="0"/>
                </a:spcBef>
              </a:pPr>
              <a:r>
                <a:rPr lang="en-US" sz="1916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Vulnerable systems can fail due to logistical issues.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3429000" cy="1219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19"/>
                </a:lnSpc>
                <a:spcBef>
                  <a:spcPct val="0"/>
                </a:spcBef>
              </a:pPr>
              <a:r>
                <a:rPr lang="en-US" sz="3016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Fragile Supply Chains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172950" y="6934200"/>
            <a:ext cx="2571750" cy="2059429"/>
            <a:chOff x="0" y="0"/>
            <a:chExt cx="3429000" cy="2745905"/>
          </a:xfrm>
        </p:grpSpPr>
        <p:sp>
          <p:nvSpPr>
            <p:cNvPr id="30" name="TextBox 30"/>
            <p:cNvSpPr txBox="1"/>
            <p:nvPr/>
          </p:nvSpPr>
          <p:spPr>
            <a:xfrm>
              <a:off x="0" y="1602905"/>
              <a:ext cx="3429000" cy="114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9"/>
                </a:lnSpc>
                <a:spcBef>
                  <a:spcPct val="0"/>
                </a:spcBef>
              </a:pPr>
              <a:r>
                <a:rPr lang="en-US" sz="1916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Limited data sharing complicates monitoring efforts.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429000" cy="1219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19"/>
                </a:lnSpc>
                <a:spcBef>
                  <a:spcPct val="0"/>
                </a:spcBef>
              </a:pPr>
              <a:r>
                <a:rPr lang="en-US" sz="3016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Not Digitally Connected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0" y="6934200"/>
            <a:ext cx="2571750" cy="2078276"/>
            <a:chOff x="0" y="0"/>
            <a:chExt cx="3429000" cy="2771034"/>
          </a:xfrm>
        </p:grpSpPr>
        <p:sp>
          <p:nvSpPr>
            <p:cNvPr id="33" name="TextBox 33"/>
            <p:cNvSpPr txBox="1"/>
            <p:nvPr/>
          </p:nvSpPr>
          <p:spPr>
            <a:xfrm>
              <a:off x="0" y="1628034"/>
              <a:ext cx="3429000" cy="114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9"/>
                </a:lnSpc>
                <a:spcBef>
                  <a:spcPct val="0"/>
                </a:spcBef>
              </a:pPr>
              <a:r>
                <a:rPr lang="en-US" sz="1916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Rural areas face unique challenges in implementation.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3429000" cy="1219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19"/>
                </a:lnSpc>
                <a:spcBef>
                  <a:spcPct val="0"/>
                </a:spcBef>
              </a:pPr>
              <a:r>
                <a:rPr lang="en-US" sz="3016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Difficult to Scale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9119" y="1028700"/>
            <a:ext cx="9185677" cy="8046193"/>
            <a:chOff x="0" y="0"/>
            <a:chExt cx="1263060" cy="11063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3060" cy="1106377"/>
            </a:xfrm>
            <a:custGeom>
              <a:avLst/>
              <a:gdLst/>
              <a:ahLst/>
              <a:cxnLst/>
              <a:rect l="l" t="t" r="r" b="b"/>
              <a:pathLst>
                <a:path w="1263060" h="1106377">
                  <a:moveTo>
                    <a:pt x="0" y="0"/>
                  </a:moveTo>
                  <a:lnTo>
                    <a:pt x="1263060" y="0"/>
                  </a:lnTo>
                  <a:lnTo>
                    <a:pt x="1263060" y="1106377"/>
                  </a:lnTo>
                  <a:lnTo>
                    <a:pt x="0" y="1106377"/>
                  </a:lnTo>
                  <a:close/>
                </a:path>
              </a:pathLst>
            </a:custGeom>
            <a:blipFill>
              <a:blip r:embed="rId3"/>
              <a:stretch>
                <a:fillRect l="-8396" r="-8396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1413510"/>
            <a:ext cx="7620248" cy="348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180">
                <a:solidFill>
                  <a:srgbClr val="03371B"/>
                </a:solidFill>
                <a:latin typeface="Garet"/>
                <a:ea typeface="Garet"/>
                <a:cs typeface="Garet"/>
                <a:sym typeface="Garet"/>
              </a:rPr>
              <a:t>The WaterScope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5762342"/>
            <a:ext cx="7620248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5"/>
              </a:lnSpc>
            </a:pPr>
            <a:r>
              <a:rPr lang="en-US" sz="3096" dirty="0">
                <a:solidFill>
                  <a:srgbClr val="013927"/>
                </a:solidFill>
                <a:latin typeface="HK Grotesk"/>
                <a:ea typeface="HK Grotesk"/>
                <a:cs typeface="HK Grotesk"/>
                <a:sym typeface="HK Grotesk"/>
              </a:rPr>
              <a:t>An open-source innovative water testing system, enabling inclusive access to smart, easy-to-use, and reliable testing for bacterial presence in drinking water.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7854885"/>
            <a:ext cx="762024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5"/>
              </a:lnSpc>
            </a:pPr>
            <a:r>
              <a:rPr lang="en-US" sz="2496">
                <a:solidFill>
                  <a:srgbClr val="013927"/>
                </a:solidFill>
                <a:latin typeface="HK Grotesk"/>
                <a:ea typeface="HK Grotesk"/>
                <a:cs typeface="HK Grotesk"/>
                <a:sym typeface="HK Grotesk"/>
              </a:rPr>
              <a:t>Orginally developed by Cambridge University Engineers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16407" y="9161834"/>
            <a:ext cx="762024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55"/>
              </a:lnSpc>
            </a:pPr>
            <a:r>
              <a:rPr lang="en-US" sz="1796">
                <a:solidFill>
                  <a:srgbClr val="013927"/>
                </a:solidFill>
                <a:latin typeface="HK Grotesk"/>
                <a:ea typeface="HK Grotesk"/>
                <a:cs typeface="HK Grotesk"/>
                <a:sym typeface="HK Grotesk"/>
              </a:rPr>
              <a:t>Picture - Nile River, Bahir Dar, Ethiopia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2548"/>
            <a:ext cx="16235362" cy="6629105"/>
            <a:chOff x="0" y="0"/>
            <a:chExt cx="21647150" cy="883880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94363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Provides immediate results for water quality testing.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Rapid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292314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Designed for easy transport to remote locations.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099257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Portable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91007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User-friendly design ensures ease of operation.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197207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Simple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50225" y="1194363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Provides consistent and accurate water quality results.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50225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Reliable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50225" y="4292314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Designed to withstand challenging field conditions.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50225" y="3099257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Robust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50225" y="7391007"/>
              <a:ext cx="53467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Integrates advanced technology for data-driven insights.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50225" y="6197207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Digital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00450" y="1194363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Provides real-time data for informed decision-making.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045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Smart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300450" y="4292314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Designed to be cost-effective for local communities.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300450" y="3099257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Affordable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300450" y="7391007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Utilizes advanced analytics to improve water quality.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300450" y="6197207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Data-Driven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2787235" y="2930872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6" y="0"/>
                </a:lnTo>
                <a:lnTo>
                  <a:pt x="436696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925652" y="5241920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6" y="0"/>
                </a:lnTo>
                <a:lnTo>
                  <a:pt x="436696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928033" y="7594994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7" y="0"/>
                </a:lnTo>
                <a:lnTo>
                  <a:pt x="436697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070205" y="2930872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7" y="0"/>
                </a:lnTo>
                <a:lnTo>
                  <a:pt x="436697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070205" y="5241920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7" y="0"/>
                </a:lnTo>
                <a:lnTo>
                  <a:pt x="436697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787235" y="7594994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6" y="0"/>
                </a:lnTo>
                <a:lnTo>
                  <a:pt x="436696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2787235" y="5241920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6" y="0"/>
                </a:lnTo>
                <a:lnTo>
                  <a:pt x="436696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888278" y="2930872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7" y="0"/>
                </a:lnTo>
                <a:lnTo>
                  <a:pt x="436697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070205" y="7594994"/>
            <a:ext cx="436697" cy="436697"/>
          </a:xfrm>
          <a:custGeom>
            <a:avLst/>
            <a:gdLst/>
            <a:ahLst/>
            <a:cxnLst/>
            <a:rect l="l" t="t" r="r" b="b"/>
            <a:pathLst>
              <a:path w="436697" h="436697">
                <a:moveTo>
                  <a:pt x="0" y="0"/>
                </a:moveTo>
                <a:lnTo>
                  <a:pt x="436697" y="0"/>
                </a:lnTo>
                <a:lnTo>
                  <a:pt x="436697" y="436697"/>
                </a:lnTo>
                <a:lnTo>
                  <a:pt x="0" y="4366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28700" y="1171575"/>
            <a:ext cx="17106900" cy="996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00"/>
              </a:lnSpc>
            </a:pPr>
            <a:r>
              <a:rPr lang="en-US" sz="7400" spc="-148" dirty="0">
                <a:solidFill>
                  <a:srgbClr val="013927"/>
                </a:solidFill>
                <a:latin typeface="Garet"/>
                <a:ea typeface="Garet"/>
                <a:cs typeface="Garet"/>
                <a:sym typeface="Garet"/>
              </a:rPr>
              <a:t>Key Features of WaterScope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7493427" y="3446358"/>
            <a:ext cx="10794573" cy="5080329"/>
            <a:chOff x="0" y="0"/>
            <a:chExt cx="14392764" cy="6773772"/>
          </a:xfrm>
        </p:grpSpPr>
        <p:sp>
          <p:nvSpPr>
            <p:cNvPr id="5" name="Freeform 5"/>
            <p:cNvSpPr/>
            <p:nvPr/>
          </p:nvSpPr>
          <p:spPr>
            <a:xfrm>
              <a:off x="7196382" y="0"/>
              <a:ext cx="7196382" cy="5579972"/>
            </a:xfrm>
            <a:custGeom>
              <a:avLst/>
              <a:gdLst/>
              <a:ahLst/>
              <a:cxnLst/>
              <a:rect l="l" t="t" r="r" b="b"/>
              <a:pathLst>
                <a:path w="7196382" h="5579972">
                  <a:moveTo>
                    <a:pt x="0" y="0"/>
                  </a:moveTo>
                  <a:lnTo>
                    <a:pt x="7196382" y="0"/>
                  </a:lnTo>
                  <a:lnTo>
                    <a:pt x="7196382" y="5579972"/>
                  </a:lnTo>
                  <a:lnTo>
                    <a:pt x="0" y="5579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204" b="-1046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7196382" cy="5579972"/>
            </a:xfrm>
            <a:custGeom>
              <a:avLst/>
              <a:gdLst/>
              <a:ahLst/>
              <a:cxnLst/>
              <a:rect l="l" t="t" r="r" b="b"/>
              <a:pathLst>
                <a:path w="7196382" h="5579972">
                  <a:moveTo>
                    <a:pt x="0" y="0"/>
                  </a:moveTo>
                  <a:lnTo>
                    <a:pt x="7196382" y="0"/>
                  </a:lnTo>
                  <a:lnTo>
                    <a:pt x="7196382" y="5579972"/>
                  </a:lnTo>
                  <a:lnTo>
                    <a:pt x="0" y="5579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296" r="-1092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5572905"/>
              <a:ext cx="7196382" cy="1200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1"/>
                </a:lnSpc>
              </a:pPr>
              <a:r>
                <a:rPr lang="en-US" sz="2984" b="1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Yohannes Tamiru</a:t>
              </a:r>
            </a:p>
            <a:p>
              <a:pPr marL="0" lvl="0" indent="0" algn="l">
                <a:lnSpc>
                  <a:spcPts val="3581"/>
                </a:lnSpc>
              </a:pPr>
              <a:r>
                <a:rPr lang="en-US" sz="2984" b="1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CoFounder and Technical Lead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96382" y="5570447"/>
              <a:ext cx="7196382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581"/>
                </a:lnSpc>
              </a:pPr>
              <a:r>
                <a:rPr lang="en-US" sz="2984" b="1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Metmku Yohannes</a:t>
              </a:r>
            </a:p>
            <a:p>
              <a:pPr marL="0" lvl="0" indent="0" algn="r">
                <a:lnSpc>
                  <a:spcPts val="3581"/>
                </a:lnSpc>
              </a:pPr>
              <a:r>
                <a:rPr lang="en-US" sz="2984" b="1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CoFounder and Bussiness Lead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165432"/>
            <a:ext cx="8859950" cy="228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800" spc="-176">
                <a:solidFill>
                  <a:srgbClr val="013927"/>
                </a:solidFill>
                <a:latin typeface="Garet"/>
                <a:ea typeface="Garet"/>
                <a:cs typeface="Garet"/>
                <a:sym typeface="Garet"/>
              </a:rPr>
              <a:t>Our Committed Team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4196559"/>
            <a:ext cx="6665613" cy="3579926"/>
            <a:chOff x="0" y="0"/>
            <a:chExt cx="8887484" cy="477323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7743723" cy="605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81"/>
                </a:lnSpc>
              </a:pPr>
              <a:r>
                <a:rPr lang="en-US" sz="2984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Building Local Capacity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221146"/>
              <a:ext cx="8887484" cy="355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23"/>
                </a:lnSpc>
              </a:pPr>
              <a:r>
                <a:rPr lang="en-US" sz="2936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are a dedicated group of young Ethiopian engineers focused on enhancing local water diagnostics and fostering innovation through collaboration with communities and educational institutions.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1285660"/>
            <a:ext cx="9763125" cy="1618405"/>
            <a:chOff x="0" y="0"/>
            <a:chExt cx="13017500" cy="2157874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Cost Reduction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2674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Local manufacturing significantly </a:t>
              </a:r>
              <a:r>
                <a:rPr lang="en-US" sz="2400" b="1" u="none" strike="noStrike">
                  <a:solidFill>
                    <a:srgbClr val="01392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lowers costs by up to 80%</a:t>
              </a: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making water testing accessible to communities in need.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5" y="3383048"/>
            <a:ext cx="9763125" cy="1618828"/>
            <a:chOff x="0" y="0"/>
            <a:chExt cx="13017500" cy="2158437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Capacity Building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237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approach builds local technical and research </a:t>
              </a:r>
              <a:r>
                <a:rPr lang="en-US" sz="2400" b="1" u="none" strike="noStrike">
                  <a:solidFill>
                    <a:srgbClr val="01392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capacity</a:t>
              </a: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empowering communities to take control of their water quality solutions.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1743920"/>
            <a:ext cx="5581650" cy="4939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rgbClr val="013927"/>
                </a:solidFill>
                <a:latin typeface="Garet"/>
                <a:ea typeface="Garet"/>
                <a:cs typeface="Garet"/>
                <a:sym typeface="Garet"/>
              </a:rPr>
              <a:t>What Makes Us Different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920565" y="5480859"/>
            <a:ext cx="9763125" cy="1618405"/>
            <a:chOff x="0" y="0"/>
            <a:chExt cx="13017500" cy="215787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Self-Reliance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92674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Strengthening local capacity ensures communities can manage their water resources effectively and sustainably over time.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20565" y="7578247"/>
            <a:ext cx="9763125" cy="1618828"/>
            <a:chOff x="0" y="0"/>
            <a:chExt cx="13017500" cy="215843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Job Opportunities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193237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Creating local manufacturing jobs empowers individuals and stimulates economic growth in regions affected by water scarcity.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1162050"/>
            <a:ext cx="16346099" cy="191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49"/>
              </a:lnSpc>
            </a:pPr>
            <a:r>
              <a:rPr lang="en-US" sz="7349" spc="-146">
                <a:solidFill>
                  <a:srgbClr val="013927"/>
                </a:solidFill>
                <a:latin typeface="Garet"/>
                <a:ea typeface="Garet"/>
                <a:cs typeface="Garet"/>
                <a:sym typeface="Garet"/>
              </a:rPr>
              <a:t>Traction &amp; Institutional Confidence</a:t>
            </a:r>
          </a:p>
          <a:p>
            <a:pPr marL="0" lvl="0" indent="0" algn="l">
              <a:lnSpc>
                <a:spcPts val="7349"/>
              </a:lnSpc>
            </a:pPr>
            <a:endParaRPr lang="en-US" sz="7349" spc="-146">
              <a:solidFill>
                <a:srgbClr val="013927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8700" y="2661162"/>
            <a:ext cx="5584570" cy="1063613"/>
            <a:chOff x="0" y="0"/>
            <a:chExt cx="7446093" cy="14181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8151" cy="1418151"/>
            </a:xfrm>
            <a:custGeom>
              <a:avLst/>
              <a:gdLst/>
              <a:ahLst/>
              <a:cxnLst/>
              <a:rect l="l" t="t" r="r" b="b"/>
              <a:pathLst>
                <a:path w="1418151" h="1418151">
                  <a:moveTo>
                    <a:pt x="0" y="0"/>
                  </a:moveTo>
                  <a:lnTo>
                    <a:pt x="1418151" y="0"/>
                  </a:lnTo>
                  <a:lnTo>
                    <a:pt x="1418151" y="1418151"/>
                  </a:lnTo>
                  <a:lnTo>
                    <a:pt x="0" y="1418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728" y="235684"/>
              <a:ext cx="6319364" cy="94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10"/>
                </a:lnSpc>
                <a:spcBef>
                  <a:spcPct val="0"/>
                </a:spcBef>
              </a:pPr>
              <a:r>
                <a:rPr lang="en-US" sz="4675" b="1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Letter of Intent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019756"/>
            <a:ext cx="5584570" cy="1312729"/>
            <a:chOff x="0" y="0"/>
            <a:chExt cx="7446093" cy="1750305"/>
          </a:xfrm>
        </p:grpSpPr>
        <p:sp>
          <p:nvSpPr>
            <p:cNvPr id="9" name="TextBox 9"/>
            <p:cNvSpPr txBox="1"/>
            <p:nvPr/>
          </p:nvSpPr>
          <p:spPr>
            <a:xfrm>
              <a:off x="1578567" y="-9525"/>
              <a:ext cx="5867526" cy="1759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85"/>
                </a:lnSpc>
                <a:spcBef>
                  <a:spcPct val="0"/>
                </a:spcBef>
              </a:pPr>
              <a:r>
                <a:rPr lang="en-US" sz="4321" b="1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Prior Pilots in Ethiopia &amp; Kenya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418151" cy="1418151"/>
            </a:xfrm>
            <a:custGeom>
              <a:avLst/>
              <a:gdLst/>
              <a:ahLst/>
              <a:cxnLst/>
              <a:rect l="l" t="t" r="r" b="b"/>
              <a:pathLst>
                <a:path w="1418151" h="1418151">
                  <a:moveTo>
                    <a:pt x="0" y="0"/>
                  </a:moveTo>
                  <a:lnTo>
                    <a:pt x="1418151" y="0"/>
                  </a:lnTo>
                  <a:lnTo>
                    <a:pt x="1418151" y="1418151"/>
                  </a:lnTo>
                  <a:lnTo>
                    <a:pt x="0" y="1418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270646" y="3724775"/>
            <a:ext cx="5955581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5"/>
              </a:lnSpc>
              <a:spcBef>
                <a:spcPct val="0"/>
              </a:spcBef>
            </a:pPr>
            <a:r>
              <a:rPr lang="en-US" sz="2913" u="none" strike="noStrike">
                <a:solidFill>
                  <a:srgbClr val="013927"/>
                </a:solidFill>
                <a:latin typeface="HK Grotesk"/>
                <a:ea typeface="HK Grotesk"/>
                <a:cs typeface="HK Grotesk"/>
                <a:sym typeface="HK Grotesk"/>
              </a:rPr>
              <a:t>Formal Letter of Intent received for up to 30 units under consideration from </a:t>
            </a:r>
            <a:r>
              <a:rPr lang="en-US" sz="2913" u="none" strike="noStrike">
                <a:solidFill>
                  <a:srgbClr val="CB6CE6"/>
                </a:solidFill>
                <a:latin typeface="HK Grotesk"/>
                <a:ea typeface="HK Grotesk"/>
                <a:cs typeface="HK Grotesk"/>
                <a:sym typeface="HK Grotesk"/>
              </a:rPr>
              <a:t>Action Against Hunger(ACF)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83729" y="7426542"/>
            <a:ext cx="4906691" cy="132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5"/>
              </a:lnSpc>
              <a:spcBef>
                <a:spcPct val="0"/>
              </a:spcBef>
            </a:pPr>
            <a:r>
              <a:rPr lang="en-US" sz="2913" u="none" strike="noStrike">
                <a:solidFill>
                  <a:srgbClr val="013927"/>
                </a:solidFill>
                <a:latin typeface="HK Grotesk"/>
                <a:ea typeface="HK Grotesk"/>
                <a:cs typeface="HK Grotesk"/>
                <a:sym typeface="HK Grotesk"/>
              </a:rPr>
              <a:t>Successful field testing and validation in East African contexts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28756" y="2661162"/>
            <a:ext cx="6293162" cy="1420174"/>
            <a:chOff x="0" y="0"/>
            <a:chExt cx="8390883" cy="18935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18151" cy="1418151"/>
            </a:xfrm>
            <a:custGeom>
              <a:avLst/>
              <a:gdLst/>
              <a:ahLst/>
              <a:cxnLst/>
              <a:rect l="l" t="t" r="r" b="b"/>
              <a:pathLst>
                <a:path w="1418151" h="1418151">
                  <a:moveTo>
                    <a:pt x="0" y="0"/>
                  </a:moveTo>
                  <a:lnTo>
                    <a:pt x="1418151" y="0"/>
                  </a:lnTo>
                  <a:lnTo>
                    <a:pt x="1418151" y="1418151"/>
                  </a:lnTo>
                  <a:lnTo>
                    <a:pt x="0" y="1418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418151" y="0"/>
              <a:ext cx="6972732" cy="1893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10"/>
                </a:lnSpc>
                <a:spcBef>
                  <a:spcPct val="0"/>
                </a:spcBef>
              </a:pPr>
              <a:r>
                <a:rPr lang="en-US" sz="4675" b="1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Ministry of Health Engagement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915227" y="4234681"/>
            <a:ext cx="6966029" cy="132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5"/>
              </a:lnSpc>
              <a:spcBef>
                <a:spcPct val="0"/>
              </a:spcBef>
            </a:pPr>
            <a:r>
              <a:rPr lang="en-US" sz="2913" u="none" strike="noStrike">
                <a:solidFill>
                  <a:srgbClr val="013927"/>
                </a:solidFill>
                <a:latin typeface="HK Grotesk"/>
                <a:ea typeface="HK Grotesk"/>
                <a:cs typeface="HK Grotesk"/>
                <a:sym typeface="HK Grotesk"/>
              </a:rPr>
              <a:t>Active training programs for water testing technicians, building government capacity and demonstrating system usability.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939056" y="5715263"/>
            <a:ext cx="6942200" cy="3904987"/>
          </a:xfrm>
          <a:custGeom>
            <a:avLst/>
            <a:gdLst/>
            <a:ahLst/>
            <a:cxnLst/>
            <a:rect l="l" t="t" r="r" b="b"/>
            <a:pathLst>
              <a:path w="6942200" h="3904987">
                <a:moveTo>
                  <a:pt x="0" y="0"/>
                </a:moveTo>
                <a:lnTo>
                  <a:pt x="6942199" y="0"/>
                </a:lnTo>
                <a:lnTo>
                  <a:pt x="6942199" y="3904987"/>
                </a:lnTo>
                <a:lnTo>
                  <a:pt x="0" y="390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1903364" y="0"/>
            <a:ext cx="6384636" cy="4788477"/>
          </a:xfrm>
          <a:custGeom>
            <a:avLst/>
            <a:gdLst/>
            <a:ahLst/>
            <a:cxnLst/>
            <a:rect l="l" t="t" r="r" b="b"/>
            <a:pathLst>
              <a:path w="6384636" h="4788477">
                <a:moveTo>
                  <a:pt x="0" y="0"/>
                </a:moveTo>
                <a:lnTo>
                  <a:pt x="6384636" y="0"/>
                </a:lnTo>
                <a:lnTo>
                  <a:pt x="6384636" y="4788477"/>
                </a:lnTo>
                <a:lnTo>
                  <a:pt x="0" y="4788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903364" y="5498523"/>
            <a:ext cx="6384636" cy="4788477"/>
          </a:xfrm>
          <a:custGeom>
            <a:avLst/>
            <a:gdLst/>
            <a:ahLst/>
            <a:cxnLst/>
            <a:rect l="l" t="t" r="r" b="b"/>
            <a:pathLst>
              <a:path w="6384636" h="4788477">
                <a:moveTo>
                  <a:pt x="0" y="0"/>
                </a:moveTo>
                <a:lnTo>
                  <a:pt x="6384636" y="0"/>
                </a:lnTo>
                <a:lnTo>
                  <a:pt x="6384636" y="4788477"/>
                </a:lnTo>
                <a:lnTo>
                  <a:pt x="0" y="4788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03424" y="5498523"/>
            <a:ext cx="6384636" cy="4788477"/>
          </a:xfrm>
          <a:custGeom>
            <a:avLst/>
            <a:gdLst/>
            <a:ahLst/>
            <a:cxnLst/>
            <a:rect l="l" t="t" r="r" b="b"/>
            <a:pathLst>
              <a:path w="6384636" h="4788477">
                <a:moveTo>
                  <a:pt x="0" y="0"/>
                </a:moveTo>
                <a:lnTo>
                  <a:pt x="6384636" y="0"/>
                </a:lnTo>
                <a:lnTo>
                  <a:pt x="6384636" y="4788477"/>
                </a:lnTo>
                <a:lnTo>
                  <a:pt x="0" y="47884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37567" y="0"/>
            <a:ext cx="3950493" cy="4788477"/>
          </a:xfrm>
          <a:custGeom>
            <a:avLst/>
            <a:gdLst/>
            <a:ahLst/>
            <a:cxnLst/>
            <a:rect l="l" t="t" r="r" b="b"/>
            <a:pathLst>
              <a:path w="3950493" h="4788477">
                <a:moveTo>
                  <a:pt x="0" y="0"/>
                </a:moveTo>
                <a:lnTo>
                  <a:pt x="3950493" y="0"/>
                </a:lnTo>
                <a:lnTo>
                  <a:pt x="3950493" y="4788477"/>
                </a:lnTo>
                <a:lnTo>
                  <a:pt x="0" y="47884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70079" y="676275"/>
            <a:ext cx="7219604" cy="3636801"/>
            <a:chOff x="0" y="0"/>
            <a:chExt cx="9626138" cy="48490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80975"/>
              <a:ext cx="8683334" cy="3395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013927"/>
                  </a:solidFill>
                  <a:latin typeface="Garet"/>
                  <a:ea typeface="Garet"/>
                  <a:cs typeface="Garet"/>
                  <a:sym typeface="Garet"/>
                </a:rPr>
                <a:t>Early Progress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220070"/>
              <a:ext cx="9626138" cy="628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4"/>
                </a:lnSpc>
              </a:pPr>
              <a:r>
                <a:rPr lang="en-US" sz="3104" b="1" u="none" strike="noStrike">
                  <a:solidFill>
                    <a:srgbClr val="01392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Manufacturing and Training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90500" y="2896392"/>
            <a:ext cx="8798589" cy="376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12"/>
              </a:lnSpc>
              <a:spcBef>
                <a:spcPct val="0"/>
              </a:spcBef>
            </a:pPr>
            <a:r>
              <a:rPr lang="en-US" sz="9712" spc="-19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Collaboration Invitation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839200" y="2097421"/>
            <a:ext cx="9090783" cy="2092437"/>
            <a:chOff x="-406400" y="6169"/>
            <a:chExt cx="12121044" cy="2789916"/>
          </a:xfrm>
        </p:grpSpPr>
        <p:sp>
          <p:nvSpPr>
            <p:cNvPr id="6" name="TextBox 6"/>
            <p:cNvSpPr txBox="1"/>
            <p:nvPr/>
          </p:nvSpPr>
          <p:spPr>
            <a:xfrm>
              <a:off x="-406400" y="6169"/>
              <a:ext cx="7416800" cy="9577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10"/>
                </a:lnSpc>
                <a:spcBef>
                  <a:spcPct val="0"/>
                </a:spcBef>
              </a:pPr>
              <a:r>
                <a:rPr lang="en-US" sz="4675" b="1" dirty="0">
                  <a:solidFill>
                    <a:srgbClr val="00000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Scale &amp; Deployment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19685"/>
              <a:ext cx="11714644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Partner on pilot programs, regional rollouts, and integration with existing water quality monitoring systems.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89089" y="5837683"/>
            <a:ext cx="8785983" cy="2123417"/>
            <a:chOff x="0" y="0"/>
            <a:chExt cx="11714644" cy="2831223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8151679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10"/>
                </a:lnSpc>
                <a:spcBef>
                  <a:spcPct val="0"/>
                </a:spcBef>
              </a:pPr>
              <a:r>
                <a:rPr lang="en-US" sz="4675" b="1">
                  <a:solidFill>
                    <a:srgbClr val="00000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Partnership in Africa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54823"/>
              <a:ext cx="11714644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1392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are interested in collaborating with organizations in African nations that are actively engaged in water testing initiatives.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0139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3599007" y="5758963"/>
            <a:ext cx="3660293" cy="3139561"/>
          </a:xfrm>
          <a:custGeom>
            <a:avLst/>
            <a:gdLst/>
            <a:ahLst/>
            <a:cxnLst/>
            <a:rect l="l" t="t" r="r" b="b"/>
            <a:pathLst>
              <a:path w="3660293" h="3139561">
                <a:moveTo>
                  <a:pt x="0" y="0"/>
                </a:moveTo>
                <a:lnTo>
                  <a:pt x="3660293" y="0"/>
                </a:lnTo>
                <a:lnTo>
                  <a:pt x="3660293" y="3139561"/>
                </a:lnTo>
                <a:lnTo>
                  <a:pt x="0" y="31395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048036" y="6026736"/>
            <a:ext cx="3918684" cy="3028865"/>
          </a:xfrm>
          <a:custGeom>
            <a:avLst/>
            <a:gdLst/>
            <a:ahLst/>
            <a:cxnLst/>
            <a:rect l="l" t="t" r="r" b="b"/>
            <a:pathLst>
              <a:path w="3918684" h="3028865">
                <a:moveTo>
                  <a:pt x="0" y="0"/>
                </a:moveTo>
                <a:lnTo>
                  <a:pt x="3918684" y="0"/>
                </a:lnTo>
                <a:lnTo>
                  <a:pt x="3918684" y="3028865"/>
                </a:lnTo>
                <a:lnTo>
                  <a:pt x="0" y="3028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190731" y="1363923"/>
            <a:ext cx="3410902" cy="3410902"/>
          </a:xfrm>
          <a:custGeom>
            <a:avLst/>
            <a:gdLst/>
            <a:ahLst/>
            <a:cxnLst/>
            <a:rect l="l" t="t" r="r" b="b"/>
            <a:pathLst>
              <a:path w="3410902" h="3410902">
                <a:moveTo>
                  <a:pt x="0" y="0"/>
                </a:moveTo>
                <a:lnTo>
                  <a:pt x="3410903" y="0"/>
                </a:lnTo>
                <a:lnTo>
                  <a:pt x="3410903" y="3410902"/>
                </a:lnTo>
                <a:lnTo>
                  <a:pt x="0" y="34109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05944" y="1363923"/>
            <a:ext cx="6156805" cy="3078402"/>
          </a:xfrm>
          <a:custGeom>
            <a:avLst/>
            <a:gdLst/>
            <a:ahLst/>
            <a:cxnLst/>
            <a:rect l="l" t="t" r="r" b="b"/>
            <a:pathLst>
              <a:path w="6156805" h="3078402">
                <a:moveTo>
                  <a:pt x="0" y="0"/>
                </a:moveTo>
                <a:lnTo>
                  <a:pt x="6156805" y="0"/>
                </a:lnTo>
                <a:lnTo>
                  <a:pt x="6156805" y="3078402"/>
                </a:lnTo>
                <a:lnTo>
                  <a:pt x="0" y="3078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07044" y="4907235"/>
            <a:ext cx="7340992" cy="1119501"/>
            <a:chOff x="0" y="0"/>
            <a:chExt cx="9787989" cy="149266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787989" cy="1492668"/>
              <a:chOff x="0" y="0"/>
              <a:chExt cx="1750861" cy="2670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50861" cy="267006"/>
              </a:xfrm>
              <a:custGeom>
                <a:avLst/>
                <a:gdLst/>
                <a:ahLst/>
                <a:cxnLst/>
                <a:rect l="l" t="t" r="r" b="b"/>
                <a:pathLst>
                  <a:path w="1750861" h="267006">
                    <a:moveTo>
                      <a:pt x="0" y="0"/>
                    </a:moveTo>
                    <a:lnTo>
                      <a:pt x="1750861" y="0"/>
                    </a:lnTo>
                    <a:lnTo>
                      <a:pt x="1750861" y="267006"/>
                    </a:lnTo>
                    <a:lnTo>
                      <a:pt x="0" y="267006"/>
                    </a:lnTo>
                    <a:close/>
                  </a:path>
                </a:pathLst>
              </a:custGeom>
              <a:solidFill>
                <a:srgbClr val="2C55A1"/>
              </a:solidFill>
            </p:spPr>
          </p:sp>
        </p:grpSp>
        <p:sp>
          <p:nvSpPr>
            <p:cNvPr id="11" name="Freeform 11"/>
            <p:cNvSpPr/>
            <p:nvPr/>
          </p:nvSpPr>
          <p:spPr>
            <a:xfrm>
              <a:off x="0" y="0"/>
              <a:ext cx="9787989" cy="1492668"/>
            </a:xfrm>
            <a:custGeom>
              <a:avLst/>
              <a:gdLst/>
              <a:ahLst/>
              <a:cxnLst/>
              <a:rect l="l" t="t" r="r" b="b"/>
              <a:pathLst>
                <a:path w="9787989" h="1492668">
                  <a:moveTo>
                    <a:pt x="0" y="0"/>
                  </a:moveTo>
                  <a:lnTo>
                    <a:pt x="9787989" y="0"/>
                  </a:lnTo>
                  <a:lnTo>
                    <a:pt x="9787989" y="1492668"/>
                  </a:lnTo>
                  <a:lnTo>
                    <a:pt x="0" y="1492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07044" y="1400224"/>
            <a:ext cx="6512501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013927"/>
                </a:solidFill>
                <a:latin typeface="Garet"/>
                <a:ea typeface="Garet"/>
                <a:cs typeface="Garet"/>
                <a:sym typeface="Garet"/>
              </a:rPr>
              <a:t>Our Partners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15753" r="-15753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w="19050" cap="flat">
            <a:solidFill>
              <a:srgbClr val="F5FFF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666750" y="1562945"/>
            <a:ext cx="5448300" cy="2513755"/>
            <a:chOff x="0" y="0"/>
            <a:chExt cx="7264400" cy="3351674"/>
          </a:xfrm>
        </p:grpSpPr>
        <p:sp>
          <p:nvSpPr>
            <p:cNvPr id="7" name="TextBox 7"/>
            <p:cNvSpPr txBox="1"/>
            <p:nvPr/>
          </p:nvSpPr>
          <p:spPr>
            <a:xfrm>
              <a:off x="0" y="180975"/>
              <a:ext cx="72644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5FFF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Get in Touch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86474"/>
              <a:ext cx="72644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5FF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Join us in transforming water quality surveillance through </a:t>
              </a:r>
              <a:r>
                <a:rPr lang="en-US" sz="2400" b="1" u="none" strike="noStrike">
                  <a:solidFill>
                    <a:srgbClr val="F5FFF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local innovation</a:t>
              </a:r>
              <a:r>
                <a:rPr lang="en-US" sz="2400" u="none" strike="noStrike">
                  <a:solidFill>
                    <a:srgbClr val="F5FF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915150"/>
            <a:ext cx="6459683" cy="2017068"/>
            <a:chOff x="0" y="0"/>
            <a:chExt cx="8612910" cy="268942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861291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5FF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Phone: +251-943-506510, +251-945-552214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20812"/>
              <a:ext cx="72644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rgbClr val="F5FF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Email: social@watereth.com</a:t>
              </a:r>
            </a:p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rgbClr val="F5FF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           jotamiru112@gmail.com</a:t>
              </a:r>
            </a:p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rgbClr val="F5FF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           metmkujohn@gmail.com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206825"/>
              <a:ext cx="72644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rgbClr val="F5FF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LinkedIn: WaterScope Eth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1478</Words>
  <Application>Microsoft Office PowerPoint</Application>
  <PresentationFormat>Custom</PresentationFormat>
  <Paragraphs>177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HK Grotesk</vt:lpstr>
      <vt:lpstr>Noto Serif Display ExtraCondensed Light</vt:lpstr>
      <vt:lpstr>HK Grotesk Bold</vt:lpstr>
      <vt:lpstr>HK Grotesk Semi-Bold</vt:lpstr>
      <vt:lpstr>Calibri</vt:lpstr>
      <vt:lpstr>Arial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Transforming Water Quality</dc:title>
  <dc:description>Presentation - Transforming Water Quality</dc:description>
  <cp:lastModifiedBy>Yohannes Tamiru</cp:lastModifiedBy>
  <cp:revision>9</cp:revision>
  <dcterms:created xsi:type="dcterms:W3CDTF">2006-08-16T00:00:00Z</dcterms:created>
  <dcterms:modified xsi:type="dcterms:W3CDTF">2026-02-27T18:31:16Z</dcterms:modified>
  <dc:identifier>DAHB9ajO58o</dc:identifier>
</cp:coreProperties>
</file>